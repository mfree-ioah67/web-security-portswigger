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352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51" r:id="rId35"/>
    <p:sldId id="364" r:id="rId36"/>
  </p:sldIdLst>
  <p:sldSz cx="13004800" cy="9753600"/>
  <p:notesSz cx="6858000" cy="9144000"/>
  <p:embeddedFontLst>
    <p:embeddedFont>
      <p:font typeface="Helvetica Neue" panose="020B0604020202020204" charset="0"/>
      <p:regular r:id="rId38"/>
      <p:bold r:id="rId39"/>
      <p:italic r:id="rId40"/>
      <p:boldItalic r:id="rId41"/>
    </p:embeddedFont>
    <p:embeddedFont>
      <p:font typeface="Helvetica Neue Light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C1DFC-6538-4039-B625-EF0FC9C0D4A9}" v="18" dt="2023-11-18T17:58:39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22" y="17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8" Type="http://schemas.openxmlformats.org/officeDocument/2006/relationships/slide" Target="slides/slide7.xml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9T06:07:00.937" v="1117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9T06:07:00.937" v="1117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9T06:07:00.937" v="1117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24528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8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824352" y="7441882"/>
            <a:ext cx="8925600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1: Web Security</a:t>
            </a:r>
            <a:b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1925479"/>
            <a:ext cx="10073620" cy="570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web application works</a:t>
            </a:r>
          </a:p>
          <a:p>
            <a:pPr lvl="4">
              <a:lnSpc>
                <a:spcPct val="130000"/>
              </a:lnSpc>
              <a:buSzPts val="2600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What is a Web Application?</a:t>
            </a:r>
            <a:endParaRPr lang="en-US" sz="2800" dirty="0"/>
          </a:p>
          <a:p>
            <a:pPr lvl="4">
              <a:lnSpc>
                <a:spcPct val="130000"/>
              </a:lnSpc>
              <a:buSzPts val="2600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Components of a Web Application</a:t>
            </a:r>
          </a:p>
          <a:p>
            <a:pPr lvl="4">
              <a:lnSpc>
                <a:spcPct val="130000"/>
              </a:lnSpc>
              <a:buSzPts val="2600"/>
            </a:pPr>
            <a:r>
              <a:rPr lang="en-US" sz="2800" dirty="0"/>
              <a:t>	- Authentication and Authorization</a:t>
            </a:r>
            <a:endParaRPr lang="en-US" sz="28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4">
              <a:lnSpc>
                <a:spcPct val="130000"/>
              </a:lnSpc>
              <a:buSzPts val="2600"/>
            </a:pPr>
            <a:r>
              <a:rPr lang="en-US" sz="2800" dirty="0"/>
              <a:t>	- Web Communication Basics</a:t>
            </a:r>
            <a:endParaRPr lang="en-US" sz="28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Application Security</a:t>
            </a:r>
          </a:p>
          <a:p>
            <a: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Fundamentals of Web Application Security</a:t>
            </a:r>
          </a:p>
          <a:p>
            <a: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US" sz="2800" dirty="0"/>
              <a:t>	- Common Web Security Vulnerabilities</a:t>
            </a:r>
          </a:p>
          <a:p>
            <a: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 dirty="0"/>
              <a:t>- Secure Coding Practices</a:t>
            </a:r>
            <a:endParaRPr lang="en-US" sz="28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Client-Side vs. Server-Side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205556"/>
            <a:ext cx="10073620" cy="178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Programming with Python</a:t>
            </a:r>
            <a:r>
              <a:rPr lang="en-US" sz="2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Tools and Scanners</a:t>
            </a:r>
            <a:endParaRPr lang="en-US" sz="2800" b="1" dirty="0"/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OSWAP and others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193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6825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1.1 What is a Web Application?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A web application is a software program that is stored on a remote server (or local) and delivered over the Internet (or LAN) through a browser interface. Unlike traditional desktop applications, which are launched by your operating system, web apps must be accessed through a web browser.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6825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1.1 What is a Web Application?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Accessibility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Web applications can be accessed anytime, anywhere, as long as there is an internet connection, unlike desktop applications that are installed on a specific device.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Cross-Platform Compatibility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They work across multiple platforms regardless of the operating system or device, as long as the browser is compatible.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Interactivity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: Allows users to interact and manipulate the data. For example, users can enter data, which is then processed and stored, and the output is returned in real-time.</a:t>
            </a:r>
            <a:endParaRPr lang="en-US" sz="2000" dirty="0">
              <a:latin typeface="+mj-lt"/>
            </a:endParaRPr>
          </a:p>
        </p:txBody>
      </p:sp>
      <p:pic>
        <p:nvPicPr>
          <p:cNvPr id="4" name="Google Shape;59;p1" descr="2017-FE-Black-01.png">
            <a:extLst>
              <a:ext uri="{FF2B5EF4-FFF2-40B4-BE49-F238E27FC236}">
                <a16:creationId xmlns:a16="http://schemas.microsoft.com/office/drawing/2014/main" id="{21358416-46E9-821B-EE05-32D56334A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99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6825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1.1 What is a Web Application?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Widespread Impact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When a web application is accessible across multiple platforms, any security vulnerabilities present in the application potentially impact a broader range of users and devices. A single exploit can affect users on different operating systems, browsers, and devices.</a:t>
            </a:r>
            <a:endParaRPr lang="en-US" sz="2000" dirty="0">
              <a:latin typeface="+mj-lt"/>
            </a:endParaRPr>
          </a:p>
        </p:txBody>
      </p:sp>
      <p:pic>
        <p:nvPicPr>
          <p:cNvPr id="3" name="Google Shape;59;p1" descr="2017-FE-Black-01.png">
            <a:extLst>
              <a:ext uri="{FF2B5EF4-FFF2-40B4-BE49-F238E27FC236}">
                <a16:creationId xmlns:a16="http://schemas.microsoft.com/office/drawing/2014/main" id="{F6EFE7AE-07BC-655F-FFF0-573D3DD52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121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9555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1.2 Key Components of a Web Application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Three primary components of a web application: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 Front-End (Client-Side),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 Back-End (Server-Side),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 Database.</a:t>
            </a:r>
            <a:endParaRPr lang="en-US" sz="2000" dirty="0"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5027EC5C-F179-6158-F76D-23039B81DE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404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Authentication: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 Verifying the identity of a user, typically through login credentials. It's the first step in any secure process, ensuring that the user is who they claim to be.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Authorization: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 Determines what an authenticated user can access and do. It's about granting or denying permissions and access to resources within the application.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Importance: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 Both are essential for securing web applications, protecting sensitive data, and ensuring that users can only access what they're allowed to.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455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The Process of Authentication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Methods</a:t>
            </a:r>
            <a:r>
              <a:rPr lang="en-US" sz="2400" dirty="0">
                <a:latin typeface="+mj-lt"/>
              </a:rPr>
              <a:t>: Username/password is the most common. Multi-factor authentication adds layers, like a text message code or fingerprint.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Session Management</a:t>
            </a:r>
            <a:r>
              <a:rPr lang="en-US" sz="2400" dirty="0">
                <a:latin typeface="+mj-lt"/>
              </a:rPr>
              <a:t>: After a user is authenticated, a session is established. This involves creating a session ID that is stored on the server and in the user's browser, usually in a cookie. This session ID is used to track the user's activities and state across multiple requests, eliminating the need to authenticate for every 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Example</a:t>
            </a:r>
            <a:r>
              <a:rPr lang="en-US" sz="2400" dirty="0">
                <a:latin typeface="+mj-lt"/>
              </a:rPr>
              <a:t>: A user logs into an email service. Post-login, they can navigate through their inbox, send emails, etc., without needing to re-enter credentials, thanks to the session that's been established.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905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Managing User Access with Authorization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Role-Based Access Control (RBAC)</a:t>
            </a:r>
            <a:r>
              <a:rPr lang="en-US" sz="2400" dirty="0">
                <a:latin typeface="+mj-lt"/>
              </a:rPr>
              <a:t>: Users are assigned roles (like 'admin', 'editor', 'viewer'), and each role has specific permissions. This simplifies managing user permissions, especially in large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Access Control Lists (ACLs): </a:t>
            </a:r>
            <a:r>
              <a:rPr lang="en-US" sz="2400" dirty="0">
                <a:latin typeface="+mj-lt"/>
              </a:rPr>
              <a:t>These are more granular, specifying exact users or groups and what they can access or do within the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Example</a:t>
            </a:r>
            <a:r>
              <a:rPr lang="en-US" sz="2400" dirty="0">
                <a:latin typeface="+mj-lt"/>
              </a:rPr>
              <a:t>: In a company's internal system, an 'admin' might have complete access to all features, while an 'editor' might only be able to modify content but not change system settings.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160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Security Vulnerabilities in Authentication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Common Vulnerabilities</a:t>
            </a:r>
            <a:r>
              <a:rPr lang="en-US" sz="2400" dirty="0">
                <a:latin typeface="+mj-lt"/>
              </a:rPr>
              <a:t>: Weak passwords can be easily guessed or cracked. Session hijacking involves an attacker stealing a user's session ID to gain unauthorized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Best Practices</a:t>
            </a:r>
            <a:r>
              <a:rPr lang="en-US" sz="2400" dirty="0">
                <a:latin typeface="+mj-lt"/>
              </a:rPr>
              <a:t>: Enforce strong passwords, use HTTPS to secure data transmission, incorporate mechanisms like captcha to prevent automated login attempts.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7361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Securing Authorization Processes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Least Privilege Principle</a:t>
            </a:r>
            <a:r>
              <a:rPr lang="en-US" sz="2400" dirty="0">
                <a:latin typeface="+mj-lt"/>
              </a:rPr>
              <a:t>: Give users only the access they need to perform their tasks. This minimizes potential damage if an account is compromised.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Regular Audits</a:t>
            </a:r>
            <a:r>
              <a:rPr lang="en-US" sz="2400" dirty="0">
                <a:latin typeface="+mj-lt"/>
              </a:rPr>
              <a:t>: Periodically reviewing user roles and permissions to ensure they're still appropriate and making adjustments as necessary.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Secure Coding</a:t>
            </a:r>
            <a:r>
              <a:rPr lang="en-US" sz="2400" dirty="0">
                <a:latin typeface="+mj-lt"/>
              </a:rPr>
              <a:t>: Avoid security flaws like SQL Injection, which can allow attackers to bypass authorization checks by exploiting vulnerabilities in the application's code.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81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1.3 Understanding Authentication and Authorization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Tools for Implementing Authentication and Authorization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Authentication Frameworks</a:t>
            </a:r>
            <a:r>
              <a:rPr lang="en-US" sz="2400" dirty="0">
                <a:latin typeface="+mj-lt"/>
              </a:rPr>
              <a:t>: OAuth is widely used for allowing users to log in with external accounts (like Google or Facebook). OpenID Connect is built on top of OAuth for more robust identity verification.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Authorization Models</a:t>
            </a:r>
            <a:r>
              <a:rPr lang="en-US" sz="2400" dirty="0">
                <a:latin typeface="+mj-lt"/>
              </a:rPr>
              <a:t>: JWT (JSON Web Tokens) are used for securely transmitting information between parties as a JSON object. SAML (Security Assertion Markup Language) is used for exchanging authentication and authorization data between parties, particularly in enterprise settings.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30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1.4 Web Communication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Fundamentals of Web Communication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Overview</a:t>
            </a:r>
            <a:r>
              <a:rPr lang="en-US" sz="2400" dirty="0">
                <a:latin typeface="+mj-lt"/>
              </a:rPr>
              <a:t>: Web communication is the process of exchanging data between a client (usually a web browser) and a server over the internet.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Protocols</a:t>
            </a:r>
            <a:r>
              <a:rPr lang="en-US" sz="2400" dirty="0">
                <a:latin typeface="+mj-lt"/>
              </a:rPr>
              <a:t>: The rules and standards (HTTP, HTTPS) that govern how data is exchanged.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Significance</a:t>
            </a:r>
            <a:r>
              <a:rPr lang="en-US" sz="2400" dirty="0">
                <a:latin typeface="+mj-lt"/>
              </a:rPr>
              <a:t>: Understanding these basics is crucial for grasping how web applications function and ensuring effective and secure data transmission.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7594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1.4 Web Communication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0" dirty="0">
                <a:solidFill>
                  <a:srgbClr val="0F0F0F"/>
                </a:solidFill>
                <a:effectLst/>
                <a:latin typeface="+mj-lt"/>
              </a:rPr>
              <a:t>HTTP and HTTPS: The Backbone of Web Communication</a:t>
            </a:r>
          </a:p>
          <a:p>
            <a:endParaRPr lang="en-US" sz="32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HTTP (Hypertext Transfer Protocol): </a:t>
            </a:r>
            <a:r>
              <a:rPr lang="en-US" sz="2400" dirty="0">
                <a:latin typeface="+mj-lt"/>
              </a:rPr>
              <a:t>The foundational protocol for the web, designed for transferring HTML and other web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HTTPS (HTTP Secure): </a:t>
            </a:r>
            <a:r>
              <a:rPr lang="en-US" sz="2400" dirty="0">
                <a:latin typeface="+mj-lt"/>
              </a:rPr>
              <a:t>An extension of HTTP, it includes encryption (SSL/TLS) for secure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Encryption in HTTPS: </a:t>
            </a:r>
            <a:r>
              <a:rPr lang="en-US" sz="2400" dirty="0">
                <a:latin typeface="+mj-lt"/>
              </a:rPr>
              <a:t>Discuss how HTTPS encrypts data to protect it from eavesdropping and tampering, making it essential for secure transactions like online banking or shopping.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760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2.1 Fundamentals of Web Application Security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Security's Role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In web programming, security is crucial to protect sensitive data, maintain user trust, and comply with legal standards.</a:t>
            </a:r>
          </a:p>
          <a:p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Confidentiality, Integrity, Availability (CIA):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0F0F0F"/>
                </a:solidFill>
                <a:effectLst/>
                <a:latin typeface="+mj-lt"/>
              </a:rPr>
              <a:t>Confidentiality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ensures that sensitive information is accessible only to authorized individuals.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0F0F0F"/>
                </a:solidFill>
                <a:effectLst/>
                <a:latin typeface="+mj-lt"/>
              </a:rPr>
              <a:t>Integrity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means maintaining the accuracy and consistency of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0F0F0F"/>
                </a:solidFill>
                <a:effectLst/>
                <a:latin typeface="+mj-lt"/>
              </a:rPr>
              <a:t>Availability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refers to ensuring that information and resources are available to those who need them.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Consequences of Insecurity: Include data breaches, identity theft, financial loss, legal consequences, and damage to reputation.</a:t>
            </a:r>
            <a:endParaRPr lang="en-US" sz="2000" dirty="0"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056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2.2 Common Web Security Vulnerabilities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SQL Injection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Occurs when attackers manipulate a website's database by inserting or "injecting" malicious SQL statements into a web form or via URL parameters. It can lead to unauthorized access and data breaches.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Cross-Site Scripting (XSS):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Attackers inject malicious scripts into web pages that are then viewed by other users. These scripts can steal cookies, session tokens, or other sensitive information from users' browsers.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Cross-Site Request Forgery (CSRF):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An attack that forces an end user to execute unwanted actions on a web application in which they are currently authenticated, potentially compromising user data.</a:t>
            </a:r>
            <a:endParaRPr lang="en-US" sz="2000" dirty="0"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2010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2.2 Secure Coding Practices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Input Validation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Ensure all user input is validated for type, length, format, and range. This prevents malicious data from entering and affecting the system.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Parameterized Queries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Use parameterized queries to prevent SQL injection. This means specifying the structure of a SQL query and passing each parameter as a value, not as part of the SQL string.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Error Handling: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 proper error handling that doesn't expose sensitive information. Provide generic error messages to users and log detailed errors for internal use.</a:t>
            </a:r>
            <a:endParaRPr lang="en-US" sz="2000" dirty="0"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8157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Client-Side vs. Server-Side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Client-Side (Front-End):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Refers to the part of a web application that runs on the user's browser.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Main focus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User interface and experience, including layout, design, interactivity, and navigation.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Technologies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HTML, CSS, JavaScript, and front-end frameworks like React, Angular, or Vue.js.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6905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Server-Side (Back-End):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Involves the web server and database, handling the business logic of web applications.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Main tasks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Data processing, storage, and retrieval; user authentication; server configuration.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Technologies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Server-side languages like PHP, Java, Python, Ruby, .NET, and back-end frameworks like Node.js, Django, Ruby on Rails.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Client-Side vs. Server-Side</a:t>
            </a:r>
          </a:p>
        </p:txBody>
      </p:sp>
    </p:spTree>
    <p:extLst>
      <p:ext uri="{BB962C8B-B14F-4D97-AF65-F5344CB8AC3E}">
        <p14:creationId xmlns:p14="http://schemas.microsoft.com/office/powerpoint/2010/main" val="775201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Client-Side Vulnerabilities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Cross-Site Scripting (XSS):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Occurs when an attacker injects malicious scripts into content from a trusted website. This script is then executed in the user's browser, potentially leading to stolen cookies, session tokens, or other sensitive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Insecure Direct Object References (IDOR):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This occurs when an application provides direct access to objects based on user input. As a result, attackers can bypass authorization and access data, such as database records or files, directly.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Client-Side vs. Server-Side</a:t>
            </a:r>
          </a:p>
        </p:txBody>
      </p:sp>
    </p:spTree>
    <p:extLst>
      <p:ext uri="{BB962C8B-B14F-4D97-AF65-F5344CB8AC3E}">
        <p14:creationId xmlns:p14="http://schemas.microsoft.com/office/powerpoint/2010/main" val="271087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Server-Side Vulnerabilities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SQL Injection: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Occurs when an attacker can insert a malicious SQL query as part of the input to a web application, manipulating the application's interaction with the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Broken Authentication: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Weaknesses in session management and authentication mechanisms can allow attackers to compromise passwords, keys, or session tokens, or exploit other implementation flaws to assume other users' identities.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Client-Side vs. Server-Side</a:t>
            </a:r>
          </a:p>
        </p:txBody>
      </p:sp>
    </p:spTree>
    <p:extLst>
      <p:ext uri="{BB962C8B-B14F-4D97-AF65-F5344CB8AC3E}">
        <p14:creationId xmlns:p14="http://schemas.microsoft.com/office/powerpoint/2010/main" val="2540738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Python's Role in Web Development: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Python, known for its simplicity and readability, is widely used in web development for both server-side scripting and back-end development.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Popular Frameworks: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Django and Flask, which facilitate rapid development and clean, pragmatic design for web applications.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Ecosystem and Libraries: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Python's rich ecosystem, including numerous libraries and tools that support web development, data processing, and integration with databases.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Web Programming with Python</a:t>
            </a:r>
          </a:p>
        </p:txBody>
      </p:sp>
    </p:spTree>
    <p:extLst>
      <p:ext uri="{BB962C8B-B14F-4D97-AF65-F5344CB8AC3E}">
        <p14:creationId xmlns:p14="http://schemas.microsoft.com/office/powerpoint/2010/main" val="3583452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41200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Implementing User Authentication in Python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Web Programming with Python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DE08F120-6F2A-F230-AFFE-9F77F2D7B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461" y="2768321"/>
            <a:ext cx="6315956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94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584200" y="4840004"/>
            <a:ext cx="26033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F0F0F"/>
                </a:solidFill>
                <a:latin typeface="+mj-lt"/>
              </a:rPr>
              <a:t>Guess the vulnerabilities in this piece of code ?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Web Programming with Python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EC366DFF-6554-6962-588E-F52154E11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037" y="2258051"/>
            <a:ext cx="9011908" cy="73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17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Web Programming with Python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6B00C529-E75D-3C1F-B80B-965E6C48A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269" y="3252046"/>
            <a:ext cx="8287907" cy="4991797"/>
          </a:xfrm>
          <a:prstGeom prst="rect">
            <a:avLst/>
          </a:prstGeom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B4EB45E9-5511-57B9-215A-E5B1E6B23360}"/>
              </a:ext>
            </a:extLst>
          </p:cNvPr>
          <p:cNvSpPr txBox="1"/>
          <p:nvPr/>
        </p:nvSpPr>
        <p:spPr>
          <a:xfrm>
            <a:off x="858316" y="2740977"/>
            <a:ext cx="584728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Lack of Input Validation and Sanitization:</a:t>
            </a:r>
          </a:p>
          <a:p>
            <a:r>
              <a:rPr lang="en-US" sz="2800" dirty="0"/>
              <a:t>The user input is not validated or sanitized, making the system vulnerable to SQL Injection attacks if connected to a database.</a:t>
            </a:r>
          </a:p>
          <a:p>
            <a:endParaRPr lang="en-US" sz="2800" dirty="0"/>
          </a:p>
          <a:p>
            <a:r>
              <a:rPr lang="en-US" sz="2800" b="1" dirty="0"/>
              <a:t>Cross-Site Scripting (XSS):</a:t>
            </a:r>
          </a:p>
          <a:p>
            <a:r>
              <a:rPr lang="en-US" sz="2800" dirty="0"/>
              <a:t>Using </a:t>
            </a:r>
            <a:r>
              <a:rPr lang="en-US" sz="2800" dirty="0" err="1"/>
              <a:t>render_template_string</a:t>
            </a:r>
            <a:r>
              <a:rPr lang="en-US" sz="2800" dirty="0"/>
              <a:t> with user-controlled input can lead to XSS vulnerabilities. An attacker could inject malicious scripts that will be executed in the browser of anyone viewing the rendered page.</a:t>
            </a:r>
          </a:p>
        </p:txBody>
      </p:sp>
    </p:spTree>
    <p:extLst>
      <p:ext uri="{BB962C8B-B14F-4D97-AF65-F5344CB8AC3E}">
        <p14:creationId xmlns:p14="http://schemas.microsoft.com/office/powerpoint/2010/main" val="143675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Web application security tools are essential for identifying and mitigating vulnerabilities.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Categories include Static Analysis Security Testing (SAST), Dynamic Analysis Security Testing (DAST), and Interactive Application Security Testing (IAST).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These tools are integrated into the software development lifecycle to ensure early and frequent detection of vulnerabilities.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5. Security Tools and Scanners</a:t>
            </a:r>
          </a:p>
        </p:txBody>
      </p:sp>
    </p:spTree>
    <p:extLst>
      <p:ext uri="{BB962C8B-B14F-4D97-AF65-F5344CB8AC3E}">
        <p14:creationId xmlns:p14="http://schemas.microsoft.com/office/powerpoint/2010/main" val="614219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Static Analysis Security Testing (SAST)</a:t>
            </a:r>
          </a:p>
          <a:p>
            <a:endParaRPr lang="en-US" sz="2800" b="1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SAST tools analyze source code, byte code, or binary code for security flaws without executing the program.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Examples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SonarQube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Continuously inspects code quality to detect bugs, vulnerabilities, and code smells.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Fortify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Identifies software security vulnerabilities across multiple programming languages.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F0F0F"/>
                </a:solidFill>
                <a:effectLst/>
                <a:latin typeface="+mj-lt"/>
              </a:rPr>
              <a:t>Checkmarx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Notable for its fast and accurate vulnerability detection.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SAST tools are beneficial for early vulnerability identification in the development process.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5. Security Tools and Scanners</a:t>
            </a:r>
          </a:p>
        </p:txBody>
      </p:sp>
    </p:spTree>
    <p:extLst>
      <p:ext uri="{BB962C8B-B14F-4D97-AF65-F5344CB8AC3E}">
        <p14:creationId xmlns:p14="http://schemas.microsoft.com/office/powerpoint/2010/main" val="1484790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Dynamic Analysis Security Testing (DAST)</a:t>
            </a:r>
          </a:p>
          <a:p>
            <a:endParaRPr lang="en-US" sz="2800" b="1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DAST tools assess running applications to find security vulnerabilities.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OWASP ZAP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Offers automated scanners for various penetration testing needs.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Burp Suite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Advanced testing and scanning capabilities make it popular among security professionals.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0F0F0F"/>
                </a:solidFill>
                <a:effectLst/>
                <a:latin typeface="+mj-lt"/>
              </a:rPr>
              <a:t>Acunetix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Fast scanning and comprehensive vulnerability detection.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DAST tools are effective for identifying runtime issues, including misconfigurations and authentication flaws.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5. Security Tools and Scanners</a:t>
            </a:r>
          </a:p>
        </p:txBody>
      </p:sp>
    </p:spTree>
    <p:extLst>
      <p:ext uri="{BB962C8B-B14F-4D97-AF65-F5344CB8AC3E}">
        <p14:creationId xmlns:p14="http://schemas.microsoft.com/office/powerpoint/2010/main" val="3470068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Interactive Application Security Testing (IAST)</a:t>
            </a:r>
          </a:p>
          <a:p>
            <a:endParaRPr lang="en-US" sz="2800" b="1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IAST combines static and dynamic analysis to identify vulnerabilities in real-time.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Notable tools: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Veracode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Provides IAST solutions along with other security testing methods.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Contrast Security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Analyzes code in real-time through instrumentation, offering immediate feedback.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IAST tools stand out for their high accuracy and capability to detect complex security issues.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5. Security Tools and Scanners</a:t>
            </a:r>
          </a:p>
        </p:txBody>
      </p:sp>
    </p:spTree>
    <p:extLst>
      <p:ext uri="{BB962C8B-B14F-4D97-AF65-F5344CB8AC3E}">
        <p14:creationId xmlns:p14="http://schemas.microsoft.com/office/powerpoint/2010/main" val="3021743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OWASP, the Open Web Application Security Project, is a worldwide not-for-profit charitable organization focused on improving the security of software.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It operates as a community of like-minded professionals, including software developers, security experts, and enthusiasts, who contribute to various open-source projects, documentation, tools, and forums.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OWASP's guiding principle is that all of its materials should be freely accessible and open to anyone interested in improving application security.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6. OWASP</a:t>
            </a:r>
          </a:p>
        </p:txBody>
      </p:sp>
    </p:spTree>
    <p:extLst>
      <p:ext uri="{BB962C8B-B14F-4D97-AF65-F5344CB8AC3E}">
        <p14:creationId xmlns:p14="http://schemas.microsoft.com/office/powerpoint/2010/main" val="2006295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OWASP Top Ten - A Standard Awareness Document</a:t>
            </a:r>
          </a:p>
          <a:p>
            <a:endParaRPr lang="en-US" sz="2800" b="1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 OWASP Top Ten is a regularly-updated report outlining the ten most critical web application security risks. It's widely considered as one of the most authoritative lists of major risks associated with web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For example, the 2021 list includes risks like Broken Access Control, Cryptographic Failures, Injection Flaws, Insecure Design, and Security Misconfiguration.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2023 list includes risk like Broken Object Level Authorization, Broken Authentication, Broken Object Property Level Authorization, Unrestricted Resource Consumption, Broken Function Level Authorization.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6. OWASP</a:t>
            </a:r>
          </a:p>
        </p:txBody>
      </p:sp>
    </p:spTree>
    <p:extLst>
      <p:ext uri="{BB962C8B-B14F-4D97-AF65-F5344CB8AC3E}">
        <p14:creationId xmlns:p14="http://schemas.microsoft.com/office/powerpoint/2010/main" val="3399441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3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272048"/>
            <a:ext cx="113411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Exploring OWASP Projects and Resources</a:t>
            </a:r>
          </a:p>
          <a:p>
            <a:endParaRPr lang="en-US" sz="2800" b="1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OWASP hosts a variety of application security tools and resources. Projects like ZAP (Zed Attack Proxy), a highly popular tool for finding vulnerabilities in web applications, are integral to security testing.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 err="1">
                <a:solidFill>
                  <a:srgbClr val="0F0F0F"/>
                </a:solidFill>
                <a:effectLst/>
                <a:latin typeface="+mj-lt"/>
              </a:rPr>
              <a:t>WebGoat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, another OWASP project, is an intentionally insecure web application designed for educational purposes, helping developers understand web application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OWASP also provides comprehensive documentation like the Application Security Verification Standard (ASVS), a framework for securing web applications, and the Testing Guide, offering best practices for security testing.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6. OWASP</a:t>
            </a:r>
          </a:p>
        </p:txBody>
      </p:sp>
    </p:spTree>
    <p:extLst>
      <p:ext uri="{BB962C8B-B14F-4D97-AF65-F5344CB8AC3E}">
        <p14:creationId xmlns:p14="http://schemas.microsoft.com/office/powerpoint/2010/main" val="3729408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Overview of web security concepts and their importance in modern web development.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Understanding the threats and vulnerabilities that web applications 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Explanation of web application architecture, including client-server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Critical aspect of security in web programming, discussing common vulnerabilities, secure coding practices.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29030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 flipH="1" flipV="1"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Specific vulnerabilities were highlighted for both client-side (like XSS, CSRF, and Clickjacking) and server-side (such as SQL Injection, Broken Authentication, and Sensitive Data Exposure).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0F0F"/>
                </a:solidFill>
                <a:latin typeface="+mj-lt"/>
              </a:rPr>
              <a:t>Detailed exploration of common web programming tasks, focusing on Python for examples.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0F0F"/>
                </a:solidFill>
                <a:latin typeface="+mj-lt"/>
              </a:rPr>
              <a:t>Overview of various security tools and scanners used in web application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0F0F"/>
                </a:solidFill>
                <a:latin typeface="+mj-lt"/>
              </a:rPr>
              <a:t>Comprehensive overview of the Open Web Application Security Project (OWASP) and its contributions to web security.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F3FC9FF9-5BA8-97F9-C403-E0D002BF5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AE23DEA-2710-CC0F-72B6-0E6CD7F60193}"/>
              </a:ext>
            </a:extLst>
          </p:cNvPr>
          <p:cNvSpPr txBox="1"/>
          <p:nvPr/>
        </p:nvSpPr>
        <p:spPr>
          <a:xfrm>
            <a:off x="858316" y="709368"/>
            <a:ext cx="11168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669757811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2540</Words>
  <Application>Microsoft Office PowerPoint</Application>
  <PresentationFormat>Tùy chỉnh</PresentationFormat>
  <Paragraphs>231</Paragraphs>
  <Slides>35</Slides>
  <Notes>4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35</vt:i4>
      </vt:variant>
    </vt:vector>
  </HeadingPairs>
  <TitlesOfParts>
    <vt:vector size="39" baseType="lpstr">
      <vt:lpstr>Arial</vt:lpstr>
      <vt:lpstr>Helvetica Neue</vt:lpstr>
      <vt:lpstr>Helvetica Neue Light</vt:lpstr>
      <vt:lpstr>White</vt:lpstr>
      <vt:lpstr>Chapter 1: Web Security Introduction 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2023-11-19T06:07:02Z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